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Hours per week — Before vs After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Hours/week</c:v>
                </c:pt>
              </c:strCache>
            </c:strRef>
          </c:tx>
          <c:spPr>
            <a:solidFill>
              <a:srgbClr val="AE201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E201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9E6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Manual process</c:v>
                  </c:pt>
                  <c:pt idx="1">
                    <c:v>With Pulse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</c:v>
                </c:pt>
                <c:pt idx="1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Content ROI Index over Time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Content ROI index</c:v>
                </c:pt>
              </c:strCache>
            </c:strRef>
          </c:tx>
          <c:spPr>
            <a:solidFill>
              <a:srgbClr val="0A9396"/>
            </a:solidFill>
            <a:ln w="38100" cap="flat">
              <a:solidFill>
                <a:srgbClr val="0A939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A9396"/>
              </a:solidFill>
              <a:ln w="9525" cap="flat">
                <a:solidFill>
                  <a:srgbClr val="0A939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2.4</c:v>
                </c:pt>
                <c:pt idx="2">
                  <c:v>4.1</c:v>
                </c:pt>
                <c:pt idx="3">
                  <c:v>6.8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5868E"/>
          </a:solidFill>
          <a:ln w="12700">
            <a:solidFill>
              <a:srgbClr val="0586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0"/>
            <a:ext cx="2377440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80560"/>
            <a:ext cx="6217920" cy="54864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REPURPOSE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Operating System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LinkedIn post.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platforms. Zero extra hours.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1554480" cy="822960"/>
          </a:xfrm>
          <a:prstGeom prst="rect">
            <a:avLst/>
          </a:prstGeom>
          <a:solidFill>
            <a:srgbClr val="0A9396">
              <a:alpha val="30000"/>
            </a:srgbClr>
          </a:solidFill>
          <a:ln w="6350">
            <a:solidFill>
              <a:srgbClr val="94D2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03580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6×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341985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0" y="3017520"/>
            <a:ext cx="1554480" cy="822960"/>
          </a:xfrm>
          <a:prstGeom prst="rect">
            <a:avLst/>
          </a:prstGeom>
          <a:solidFill>
            <a:srgbClr val="0A9396">
              <a:alpha val="30000"/>
            </a:srgbClr>
          </a:solidFill>
          <a:ln w="6350">
            <a:solidFill>
              <a:srgbClr val="94D2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303580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286000" y="341985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3017520"/>
            <a:ext cx="1554480" cy="822960"/>
          </a:xfrm>
          <a:prstGeom prst="rect">
            <a:avLst/>
          </a:prstGeom>
          <a:solidFill>
            <a:srgbClr val="0A9396">
              <a:alpha val="30000"/>
            </a:srgbClr>
          </a:solidFill>
          <a:ln w="6350">
            <a:solidFill>
              <a:srgbClr val="94D2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303580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114800" y="341985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consistent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0" y="20116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0" y="2880360"/>
            <a:ext cx="1097280" cy="36576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30632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that learns,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scales, and improves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every post.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73168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Demo Deck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Content Scaling Wall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creator hits it. Great content on one platform — while 5 others sit empty.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54480"/>
            <a:ext cx="64008" cy="777240"/>
          </a:xfrm>
          <a:prstGeom prst="rect">
            <a:avLst/>
          </a:prstGeom>
          <a:solidFill>
            <a:srgbClr val="AE2012"/>
          </a:solidFill>
          <a:ln w="12700">
            <a:solidFill>
              <a:srgbClr val="AE201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764792"/>
            <a:ext cx="347472" cy="347472"/>
          </a:xfrm>
          <a:prstGeom prst="ellipse">
            <a:avLst/>
          </a:prstGeom>
          <a:solidFill>
            <a:srgbClr val="AE2012"/>
          </a:solidFill>
          <a:ln w="12700">
            <a:solidFill>
              <a:srgbClr val="AE20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TIME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24128" y="16276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 hours/week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24128" y="19202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reformatting one post for every platform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55448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554480"/>
            <a:ext cx="64008" cy="777240"/>
          </a:xfrm>
          <a:prstGeom prst="rect">
            <a:avLst/>
          </a:prstGeom>
          <a:solidFill>
            <a:srgbClr val="CA670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19472" y="1764792"/>
            <a:ext cx="347472" cy="347472"/>
          </a:xfrm>
          <a:prstGeom prst="ellipse">
            <a:avLst/>
          </a:prstGeom>
          <a:solidFill>
            <a:srgbClr val="CA670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VOICE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13248" y="16276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inconsistency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13248" y="19202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rewrite drifts further from your real voice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542032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542032"/>
            <a:ext cx="64008" cy="7772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752344"/>
            <a:ext cx="347472" cy="34747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752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GAPS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24128" y="261518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gaps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4128" y="29077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dark for days while content sits unrepurposed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542032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542032"/>
            <a:ext cx="64008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19472" y="2752344"/>
            <a:ext cx="347472" cy="34747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2752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13248" y="261518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learning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13248" y="29077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starts from scratch — no memory of what worked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529584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3529584"/>
            <a:ext cx="64008" cy="77724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0352" y="3739896"/>
            <a:ext cx="347472" cy="347472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3739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IMG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24128" y="360273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chaos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24128" y="389534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 images for each platform require a designer or hours of Canva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3529584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529584"/>
            <a:ext cx="64008" cy="777240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19472" y="3739896"/>
            <a:ext cx="347472" cy="347472"/>
          </a:xfrm>
          <a:prstGeom prst="ellipse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3739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VIS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13248" y="360273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13248" y="389534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place to see what is published, pending, or missing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Pulse Repurpose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content operating system that turns one LinkedIn post into six platform-ready pieces — automatically, in your voice, with a memory that gets smarter every day.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737360" cy="1188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6420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6771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source content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40280" y="2084832"/>
            <a:ext cx="256032" cy="54864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31136" y="1965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E9B00"/>
                </a:solidFill>
              </a:rPr>
              <a:t>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98064" y="1600200"/>
            <a:ext cx="1737360" cy="1188720"/>
          </a:xfrm>
          <a:prstGeom prst="rect">
            <a:avLst/>
          </a:prstGeom>
          <a:solidFill>
            <a:srgbClr val="CA6702"/>
          </a:solidFill>
          <a:ln w="12700">
            <a:solidFill>
              <a:srgbClr val="CA670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98064" y="166420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98064" y="226771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prompt factories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81144" y="2084832"/>
            <a:ext cx="256032" cy="54864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965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E9B00"/>
                </a:solidFill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38928" y="1600200"/>
            <a:ext cx="1737360" cy="1188720"/>
          </a:xfrm>
          <a:prstGeom prst="rect">
            <a:avLst/>
          </a:prstGeom>
          <a:solidFill>
            <a:srgbClr val="05868E"/>
          </a:solidFill>
          <a:ln w="12700">
            <a:solidFill>
              <a:srgbClr val="0586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38928" y="166420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38928" y="226771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+ publish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22008" y="2084832"/>
            <a:ext cx="256032" cy="54864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12864" y="1965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E9B00"/>
                </a:solidFill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79792" y="1600200"/>
            <a:ext cx="1737360" cy="1188720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79792" y="166420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Platforms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79792" y="226771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in your voice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063240"/>
            <a:ext cx="1280160" cy="438912"/>
          </a:xfrm>
          <a:prstGeom prst="rect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306324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Twitter/X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74520" y="3063240"/>
            <a:ext cx="1280160" cy="43891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874520" y="306324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91840" y="3063240"/>
            <a:ext cx="1280160" cy="438912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91840" y="306324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063240"/>
            <a:ext cx="1280160" cy="438912"/>
          </a:xfrm>
          <a:prstGeom prst="rect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09160" y="306324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3063240"/>
            <a:ext cx="1280160" cy="438912"/>
          </a:xfrm>
          <a:prstGeom prst="rect">
            <a:avLst/>
          </a:prstGeom>
          <a:solidFill>
            <a:srgbClr val="00A693"/>
          </a:solidFill>
          <a:ln w="12700">
            <a:solidFill>
              <a:srgbClr val="00A6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26480" y="306324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Skool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543800" y="3063240"/>
            <a:ext cx="1280160" cy="438912"/>
          </a:xfrm>
          <a:prstGeom prst="rect">
            <a:avLst/>
          </a:prstGeom>
          <a:solidFill>
            <a:srgbClr val="0077B5"/>
          </a:solidFill>
          <a:ln w="12700">
            <a:solidFill>
              <a:srgbClr val="0077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543800" y="306324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rgbClr val="0A9396">
              <a:alpha val="20000"/>
            </a:srgbClr>
          </a:solidFill>
          <a:ln w="6350">
            <a:solidFill>
              <a:srgbClr val="0A93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AGENTIC OPERATING SYSTEM (AOS)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learns from every approval, edit, and engagement signal — automatically improving its output over time without any manual rule updates.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HOW IT 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Post to Six Platforms in Four Steps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1920240" cy="5029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" y="1664208"/>
            <a:ext cx="1920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9768" y="175564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post scraped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2286000"/>
            <a:ext cx="17190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+ Apify automatically scrapes your new LinkedIn posts daily. No manual input required. Posts land in Google Sheets — your master tracker.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58568" y="2834640"/>
            <a:ext cx="182880" cy="36576"/>
          </a:xfrm>
          <a:prstGeom prst="rect">
            <a:avLst/>
          </a:prstGeom>
          <a:solidFill>
            <a:srgbClr val="B5B0A8"/>
          </a:solidFill>
          <a:ln w="12700">
            <a:solidFill>
              <a:srgbClr val="B5B0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1143000"/>
            <a:ext cx="1920240" cy="502920"/>
          </a:xfrm>
          <a:prstGeom prst="rect">
            <a:avLst/>
          </a:prstGeom>
          <a:solidFill>
            <a:srgbClr val="CA670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143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468880" y="1664208"/>
            <a:ext cx="1920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78608" y="175564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skills generate prompts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78608" y="2286000"/>
            <a:ext cx="17190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10 platform skill files (5 content + 5 image) reads your brand voice, accumulated learnings, and approval history to build the perfect AI prompt.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07408" y="2834640"/>
            <a:ext cx="182880" cy="36576"/>
          </a:xfrm>
          <a:prstGeom prst="rect">
            <a:avLst/>
          </a:prstGeom>
          <a:solidFill>
            <a:srgbClr val="B5B0A8"/>
          </a:solidFill>
          <a:ln w="12700">
            <a:solidFill>
              <a:srgbClr val="B5B0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1143000"/>
            <a:ext cx="1920240" cy="502920"/>
          </a:xfrm>
          <a:prstGeom prst="rect">
            <a:avLst/>
          </a:prstGeom>
          <a:solidFill>
            <a:srgbClr val="05868E"/>
          </a:solidFill>
          <a:ln w="12700">
            <a:solidFill>
              <a:srgbClr val="0586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143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617720" y="1664208"/>
            <a:ext cx="1920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27448" y="175564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executes with Claude + fal.ai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27448" y="2286000"/>
            <a:ext cx="17190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receives pre-built prompts and fires Claude API for text and fal.ai for images in parallel — all 5 platforms at once. Results land in the Sheet and content store.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56248" y="2834640"/>
            <a:ext cx="182880" cy="36576"/>
          </a:xfrm>
          <a:prstGeom prst="rect">
            <a:avLst/>
          </a:prstGeom>
          <a:solidFill>
            <a:srgbClr val="B5B0A8"/>
          </a:solidFill>
          <a:ln w="12700">
            <a:solidFill>
              <a:srgbClr val="B5B0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0" y="1143000"/>
            <a:ext cx="1920240" cy="502920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1143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766560" y="1664208"/>
            <a:ext cx="1920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76288" y="175564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approve, publish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76288" y="2286000"/>
            <a:ext cx="17190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dashboard, see all variants, tweak with the AI chat sidebar if needed, approve, and hit publish. n8n handles posting to every platform via their native APIs.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solidFill>
            <a:srgbClr val="0A9396">
              <a:alpha val="15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8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system runs on your own n8n instance — you own the workflows, the data, and the credentials. No vendor lock-in.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FEATURES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Built In — Nothing Bolted 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697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64008" cy="107899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444752"/>
            <a:ext cx="347472" cy="34747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BV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41832" y="116128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Voice Profile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" y="1719072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descriptors, writing style, topic pillars, avoid list, and up to 5 example posts. Injected into every single AI call.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27832" y="1097280"/>
            <a:ext cx="2697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27832" y="1097280"/>
            <a:ext cx="64008" cy="1078992"/>
          </a:xfrm>
          <a:prstGeom prst="rect">
            <a:avLst/>
          </a:prstGeom>
          <a:solidFill>
            <a:srgbClr val="CA670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92424" y="1444752"/>
            <a:ext cx="347472" cy="347472"/>
          </a:xfrm>
          <a:prstGeom prst="ellipse">
            <a:avLst/>
          </a:prstGeom>
          <a:solidFill>
            <a:srgbClr val="CA670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92424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9624" y="116128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Skill Files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92424" y="1719072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Markdown skill files (5 content + 5 image) act as prompt factories. Human-readable, editable, and auto-updated by the learning system.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35624" y="1097280"/>
            <a:ext cx="2697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35624" y="1097280"/>
            <a:ext cx="64008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0216" y="1444752"/>
            <a:ext cx="347472" cy="34747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0216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57416" y="116128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Calendar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0216" y="1719072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FullCalendar view with all scheduled posts across platforms. Drag-to-reschedule. Gap warnings when a platform goes dark for 3+ days.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2359152"/>
            <a:ext cx="2697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359152"/>
            <a:ext cx="64008" cy="1078992"/>
          </a:xfrm>
          <a:prstGeom prst="rect">
            <a:avLst/>
          </a:prstGeom>
          <a:solidFill>
            <a:srgbClr val="05868E"/>
          </a:solidFill>
          <a:ln w="12700">
            <a:solidFill>
              <a:srgbClr val="05868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" y="2706624"/>
            <a:ext cx="347472" cy="347472"/>
          </a:xfrm>
          <a:prstGeom prst="ellipse">
            <a:avLst/>
          </a:prstGeom>
          <a:solidFill>
            <a:srgbClr val="05868E"/>
          </a:solidFill>
          <a:ln w="12700">
            <a:solidFill>
              <a:srgbClr val="0586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" y="2706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41832" y="24231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Sidebar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" y="2980944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'make it punchier' or 'add a hook' on any platform card. Context-aware edits in real time without leaving the repurpose page.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27832" y="2359152"/>
            <a:ext cx="2697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27832" y="2359152"/>
            <a:ext cx="64008" cy="107899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92424" y="2706624"/>
            <a:ext cx="347472" cy="347472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92424" y="2706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849624" y="24231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 Intelligence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92424" y="2980944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 bank with platform filtering, topic pillar tagging, and usage tracking. AI suggests from bank first, with confidence scores.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135624" y="2359152"/>
            <a:ext cx="2697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35624" y="2359152"/>
            <a:ext cx="64008" cy="1078992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0216" y="2706624"/>
            <a:ext cx="347472" cy="347472"/>
          </a:xfrm>
          <a:prstGeom prst="ellipse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0216" y="2706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IMG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757416" y="24231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Image Generation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00216" y="2980944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fal.ai generates platform-correct images (16:9 for Twitter, 1:1 for Instagram) with negative prompts and style directives per platform.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20040" y="3621024"/>
            <a:ext cx="2697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20040" y="3621024"/>
            <a:ext cx="64008" cy="1078992"/>
          </a:xfrm>
          <a:prstGeom prst="rect">
            <a:avLst/>
          </a:prstGeom>
          <a:solidFill>
            <a:srgbClr val="AE2012"/>
          </a:solidFill>
          <a:ln w="12700">
            <a:solidFill>
              <a:srgbClr val="AE201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4632" y="3968496"/>
            <a:ext cx="347472" cy="347472"/>
          </a:xfrm>
          <a:prstGeom prst="ellipse">
            <a:avLst/>
          </a:prstGeom>
          <a:solidFill>
            <a:srgbClr val="AE2012"/>
          </a:solidFill>
          <a:ln w="12700">
            <a:solidFill>
              <a:srgbClr val="AE201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" y="3968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SHT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41832" y="368503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 Tracker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4632" y="4242816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49-column master tracker stores every post, all 5 platform variants, statuses, prompts, and image URLs — your audit trail and operational dashboard.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227832" y="3621024"/>
            <a:ext cx="2697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227832" y="3621024"/>
            <a:ext cx="64008" cy="107899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92424" y="3968496"/>
            <a:ext cx="347472" cy="347472"/>
          </a:xfrm>
          <a:prstGeom prst="ellipse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92424" y="3968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N8N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849624" y="368503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Webhook Architecture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392424" y="4242816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independent n8n workflows: Sheet ops, content repurpose, image repurpose, publish. Zero vendor lock-in. Full control.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135624" y="3621024"/>
            <a:ext cx="2697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135624" y="3621024"/>
            <a:ext cx="64008" cy="1078992"/>
          </a:xfrm>
          <a:prstGeom prst="rect">
            <a:avLst/>
          </a:prstGeom>
          <a:solidFill>
            <a:srgbClr val="141C26"/>
          </a:solidFill>
          <a:ln w="12700">
            <a:solidFill>
              <a:srgbClr val="141C2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00216" y="3968496"/>
            <a:ext cx="347472" cy="347472"/>
          </a:xfrm>
          <a:prstGeom prst="ellipse">
            <a:avLst/>
          </a:prstGeom>
          <a:solidFill>
            <a:srgbClr val="141C26"/>
          </a:solidFill>
          <a:ln w="12700">
            <a:solidFill>
              <a:srgbClr val="141C2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00216" y="3968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MD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757416" y="368503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Store (.md files)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300216" y="4242816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repurposed post saved as Markdown with frontmatter in your repo. Git-tracked, version-controlled, LLM-readable audit trail.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C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Operating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Repurpose is not just software — it is a living system that learns, remembers, and improves autonomously.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2103120" cy="43891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SOUL.md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78608" y="1463040"/>
            <a:ext cx="182880" cy="36576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29844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operating principles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65376"/>
            <a:ext cx="2103120" cy="438912"/>
          </a:xfrm>
          <a:prstGeom prst="rect">
            <a:avLst/>
          </a:prstGeom>
          <a:solidFill>
            <a:srgbClr val="CA670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65376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Heartbeat.md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78608" y="2029968"/>
            <a:ext cx="182880" cy="36576"/>
          </a:xfrm>
          <a:prstGeom prst="rect">
            <a:avLst/>
          </a:prstGeom>
          <a:solidFill>
            <a:srgbClr val="CA670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1865376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state — rewritten daily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32304"/>
            <a:ext cx="2103120" cy="43891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32304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USER.md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78608" y="2596896"/>
            <a:ext cx="18288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8920" y="2432304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creator profile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99232"/>
            <a:ext cx="2103120" cy="438912"/>
          </a:xfrm>
          <a:prstGeom prst="rect">
            <a:avLst/>
          </a:prstGeom>
          <a:solidFill>
            <a:srgbClr val="05868E"/>
          </a:solidFill>
          <a:ln w="12700">
            <a:solidFill>
              <a:srgbClr val="0586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99232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MEMORY.md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78608" y="3163824"/>
            <a:ext cx="182880" cy="36576"/>
          </a:xfrm>
          <a:prstGeom prst="rect">
            <a:avLst/>
          </a:prstGeom>
          <a:solidFill>
            <a:srgbClr val="05868E"/>
          </a:solidFill>
          <a:ln w="12700">
            <a:solidFill>
              <a:srgbClr val="0586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88920" y="2999232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7-day working memory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566160"/>
            <a:ext cx="2103120" cy="438912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56616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learnings.md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78608" y="3730752"/>
            <a:ext cx="182880" cy="36576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88920" y="356616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Accumulated intelligence by platform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133088"/>
            <a:ext cx="2103120" cy="438912"/>
          </a:xfrm>
          <a:prstGeom prst="rect">
            <a:avLst/>
          </a:prstGeom>
          <a:solidFill>
            <a:srgbClr val="6B6762"/>
          </a:solidFill>
          <a:ln w="12700">
            <a:solidFill>
              <a:srgbClr val="6B676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13308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skills/*.md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78608" y="4297680"/>
            <a:ext cx="182880" cy="36576"/>
          </a:xfrm>
          <a:prstGeom prst="rect">
            <a:avLst/>
          </a:prstGeom>
          <a:solidFill>
            <a:srgbClr val="6B6762"/>
          </a:solidFill>
          <a:ln w="12700">
            <a:solidFill>
              <a:srgbClr val="6B67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88920" y="413308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runbooks + prompt factories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1234440"/>
            <a:ext cx="2606040" cy="3547872"/>
          </a:xfrm>
          <a:prstGeom prst="rect">
            <a:avLst/>
          </a:prstGeom>
          <a:solidFill>
            <a:srgbClr val="0A9396">
              <a:alpha val="20000"/>
            </a:srgbClr>
          </a:solidFill>
          <a:ln w="6350">
            <a:solidFill>
              <a:srgbClr val="0A93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128016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LOOP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55080" y="17373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User approves variant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55080" y="21762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System records pattern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55080" y="26151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learnings.md updated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55080" y="30540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Next prompt improved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55080" y="34930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Approval rate climbs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55080" y="39319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forever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6634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cron runs automatically: scrape new posts -&gt; trigger repurpose -&gt; update learnings -&gt; detect gaps -&gt; fill calendar -&gt; update Heartbeat.md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Enterprise-Grade, Open Stack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724912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2724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App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272491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19072"/>
            <a:ext cx="54864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168249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throughout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39696"/>
            <a:ext cx="54864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210312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shadcn/ui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54864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25237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state management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80944"/>
            <a:ext cx="54864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294436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FullCalendar for scheduling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401568"/>
            <a:ext cx="54864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336499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 + Zod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822192"/>
            <a:ext cx="54864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378561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Sonner toast notifications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242816"/>
            <a:ext cx="54864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" y="42062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gray-matter for .md files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1143000"/>
            <a:ext cx="2724912" cy="43891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1143000"/>
            <a:ext cx="2724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Workflow Engine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46120" y="1600200"/>
            <a:ext cx="272491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83280" y="1719072"/>
            <a:ext cx="54864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02152" y="168249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independent workflows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83280" y="2139696"/>
            <a:ext cx="54864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02152" y="210312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0: Sheet ops (sync)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83280" y="2560320"/>
            <a:ext cx="54864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02152" y="25237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1: Claude text gen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83280" y="2980944"/>
            <a:ext cx="54864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02152" y="294436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2: fal.ai images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83280" y="3401568"/>
            <a:ext cx="54864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02152" y="336499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3: Platform publish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383280" y="3822192"/>
            <a:ext cx="54864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02152" y="378561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Self-hosted, full control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383280" y="4242816"/>
            <a:ext cx="54864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02152" y="42062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Webhook-based communication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72200" y="1143000"/>
            <a:ext cx="2724912" cy="438912"/>
          </a:xfrm>
          <a:prstGeom prst="rect">
            <a:avLst/>
          </a:prstGeom>
          <a:solidFill>
            <a:srgbClr val="CA670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1143000"/>
            <a:ext cx="2724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Data Services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172200" y="1600200"/>
            <a:ext cx="272491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309360" y="1719072"/>
            <a:ext cx="54864" cy="54864"/>
          </a:xfrm>
          <a:prstGeom prst="rect">
            <a:avLst/>
          </a:prstGeom>
          <a:solidFill>
            <a:srgbClr val="CA670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28232" y="168249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 (Anthropic)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09360" y="2139696"/>
            <a:ext cx="54864" cy="54864"/>
          </a:xfrm>
          <a:prstGeom prst="rect">
            <a:avLst/>
          </a:prstGeom>
          <a:solidFill>
            <a:srgbClr val="CA670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28232" y="210312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fal.ai Flux Schnell (images)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309360" y="2560320"/>
            <a:ext cx="54864" cy="54864"/>
          </a:xfrm>
          <a:prstGeom prst="rect">
            <a:avLst/>
          </a:prstGeom>
          <a:solidFill>
            <a:srgbClr val="CA670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28232" y="25237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API v4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09360" y="2980944"/>
            <a:ext cx="54864" cy="54864"/>
          </a:xfrm>
          <a:prstGeom prst="rect">
            <a:avLst/>
          </a:prstGeom>
          <a:solidFill>
            <a:srgbClr val="CA670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28232" y="294436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Apify (LinkedIn scraping)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9360" y="3401568"/>
            <a:ext cx="54864" cy="54864"/>
          </a:xfrm>
          <a:prstGeom prst="rect">
            <a:avLst/>
          </a:prstGeom>
          <a:solidFill>
            <a:srgbClr val="CA670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28232" y="336499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(LinkedIn scheduling)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309360" y="3822192"/>
            <a:ext cx="54864" cy="54864"/>
          </a:xfrm>
          <a:prstGeom prst="rect">
            <a:avLst/>
          </a:prstGeom>
          <a:solidFill>
            <a:srgbClr val="CA670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28232" y="378561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API v2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309360" y="4242816"/>
            <a:ext cx="54864" cy="54864"/>
          </a:xfrm>
          <a:prstGeom prst="rect">
            <a:avLst/>
          </a:prstGeom>
          <a:solidFill>
            <a:srgbClr val="CA670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28232" y="42062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Graph API (IG + FB + Threads)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20040" y="4681728"/>
            <a:ext cx="850392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0040" y="468172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the code   |   You own the workflows   |   You own the data   |   No monthly SaaS fees   |   Fully customisable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ROI &amp; IMPACT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Speak for Themselves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1600200" cy="1051560"/>
          </a:xfrm>
          <a:prstGeom prst="rect">
            <a:avLst/>
          </a:prstGeom>
          <a:solidFill>
            <a:srgbClr val="AE2012"/>
          </a:solidFill>
          <a:ln w="12700">
            <a:solidFill>
              <a:srgbClr val="AE20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21615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18hrs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17190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work per week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23444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020824" y="1188720"/>
            <a:ext cx="1371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B5B0A8"/>
                </a:solidFill>
              </a:rPr>
              <a:t>-&gt;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3721608" y="1188720"/>
            <a:ext cx="1600200" cy="1051560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21608" y="121615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3hrs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721608" y="17190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Pulse Repurpose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21608" y="123444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422392" y="1188720"/>
            <a:ext cx="1600200" cy="10515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22392" y="121615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422392" y="17190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content published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22392" y="123444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123176" y="1188720"/>
            <a:ext cx="1600200" cy="1051560"/>
          </a:xfrm>
          <a:prstGeom prst="rect">
            <a:avLst/>
          </a:prstGeom>
          <a:solidFill>
            <a:srgbClr val="CA6702"/>
          </a:solidFill>
          <a:ln w="12700">
            <a:solidFill>
              <a:srgbClr val="CA670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23176" y="121615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6x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123176" y="17190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reach per post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23176" y="123444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75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320040" y="2468880"/>
          <a:ext cx="411480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4" name="Chart 1" descr=""/>
          <p:cNvGraphicFramePr/>
          <p:nvPr/>
        </p:nvGraphicFramePr>
        <p:xfrm>
          <a:off x="4663440" y="2468880"/>
          <a:ext cx="416052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PLATFORMS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Source. Six Platform-Native Outputs.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697480" cy="384048"/>
          </a:xfrm>
          <a:prstGeom prst="rect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/ 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2697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9768" y="155448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Tone: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97280" y="15544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Hook-first, punchy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29768" y="1801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97280" y="18013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 chars or thread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9768" y="204825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97280" y="20482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1200x675 (16:9)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9768" y="229514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Hashtags: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97280" y="22951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29768" y="248716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A67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Auto-splits long content into numbered threads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27832" y="1097280"/>
            <a:ext cx="269748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27832" y="109728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27832" y="1481328"/>
            <a:ext cx="2697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37560" y="155448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005072" y="15544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Casual, conversational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37560" y="1801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005072" y="18013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chars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37560" y="204825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005072" y="20482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1080x1080 (1:1)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337560" y="229514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Hashtags: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005072" y="22951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37560" y="248716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A67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texting a smart friend — no corporate tone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35624" y="1097280"/>
            <a:ext cx="2697480" cy="384048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35624" y="109728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35624" y="1481328"/>
            <a:ext cx="2697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245352" y="155448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Tone: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912864" y="15544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Story-driven, personal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245352" y="1801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912864" y="18013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2200 chars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245352" y="204825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912864" y="20482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1080x1080 (1:1)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245352" y="229514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Hashtags: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912864" y="22951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5-15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245352" y="248716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A67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line crafted to stop the scroll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0040" y="2926080"/>
            <a:ext cx="2697480" cy="384048"/>
          </a:xfrm>
          <a:prstGeom prst="rect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292608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20040" y="3310128"/>
            <a:ext cx="2697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29768" y="338328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Tone: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097280" y="33832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community-first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29768" y="36301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097280" y="36301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Long-form ok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29768" y="387705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097280" y="38770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1200x630 (16:9)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29768" y="412394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Hashtags: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097280" y="41239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0-3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29768" y="431596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A67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with a question to drive comments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227832" y="2926080"/>
            <a:ext cx="2697480" cy="384048"/>
          </a:xfrm>
          <a:prstGeom prst="rect">
            <a:avLst/>
          </a:prstGeom>
          <a:solidFill>
            <a:srgbClr val="00A693"/>
          </a:solidFill>
          <a:ln w="12700">
            <a:solidFill>
              <a:srgbClr val="00A69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27832" y="292608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Skool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3227832" y="3310128"/>
            <a:ext cx="2697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3337560" y="338328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Tone: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005072" y="33832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starter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337560" y="36301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005072" y="36301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chars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3337560" y="387705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005072" y="38770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1200x675 (16:9)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3337560" y="412394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Hashtags: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4005072" y="41239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3337560" y="431596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A67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Reframed as a community lesson or prompt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135624" y="2926080"/>
            <a:ext cx="2697480" cy="384048"/>
          </a:xfrm>
          <a:prstGeom prst="rect">
            <a:avLst/>
          </a:prstGeom>
          <a:solidFill>
            <a:srgbClr val="0077B5"/>
          </a:solidFill>
          <a:ln w="12700">
            <a:solidFill>
              <a:srgbClr val="0077B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35624" y="292608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6135624" y="3310128"/>
            <a:ext cx="2697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6245352" y="338328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Tone: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912864" y="33832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Professional, direct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245352" y="36301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6912864" y="36301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source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6245352" y="387705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6912864" y="38770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6245352" y="412394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Hashtags: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6912864" y="41239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Preserved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6245352" y="431596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A67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 content — all others derive from it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Gets Smarter Every 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approval, edit, rejection, and engagement signal is captured and used to improve the next repurpose run.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14800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patterns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64792"/>
            <a:ext cx="4114800" cy="1078992"/>
          </a:xfrm>
          <a:prstGeom prst="rect">
            <a:avLst/>
          </a:prstGeom>
          <a:solidFill>
            <a:srgbClr val="0A9396">
              <a:alpha val="12000"/>
            </a:srgbClr>
          </a:solidFill>
          <a:ln w="3810">
            <a:solidFill>
              <a:srgbClr val="0A93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874520"/>
            <a:ext cx="45720" cy="457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196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threads under 5 tweets approved 90% first-time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194560"/>
            <a:ext cx="45720" cy="457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1396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captions over 200 words always get shortened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514600"/>
            <a:ext cx="45720" cy="457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4597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bullet points rejected every time — user rewrites to prose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1417320"/>
            <a:ext cx="4114800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4173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performance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1764792"/>
            <a:ext cx="4114800" cy="1078992"/>
          </a:xfrm>
          <a:prstGeom prst="rect">
            <a:avLst/>
          </a:prstGeom>
          <a:solidFill>
            <a:srgbClr val="0A9396">
              <a:alpha val="12000"/>
            </a:srgbClr>
          </a:solidFill>
          <a:ln w="3810">
            <a:solidFill>
              <a:srgbClr val="0A93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874520"/>
            <a:ext cx="45720" cy="457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18196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failure/lesson posts outperform how-tos by 40%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2194560"/>
            <a:ext cx="45720" cy="457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5192" y="21396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with specific numbers get more shares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2514600"/>
            <a:ext cx="45720" cy="457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24597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LinkedIn posts (&lt;300 words) drive more comments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017520"/>
            <a:ext cx="4114800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0175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 intelligence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364992"/>
            <a:ext cx="4114800" cy="1078992"/>
          </a:xfrm>
          <a:prstGeom prst="rect">
            <a:avLst/>
          </a:prstGeom>
          <a:solidFill>
            <a:srgbClr val="0A9396">
              <a:alpha val="12000"/>
            </a:srgbClr>
          </a:solidFill>
          <a:ln w="3810">
            <a:solidFill>
              <a:srgbClr val="0A939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474720"/>
            <a:ext cx="45720" cy="457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34198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#buildinpublic on Twitter outperforms #entrepreneur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3794760"/>
            <a:ext cx="45720" cy="457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7398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sweet spot: 8-12 hashtags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4114800"/>
            <a:ext cx="45720" cy="457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40599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#solopreneur on Threads underperforming — reduced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3017520"/>
            <a:ext cx="4114800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0175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adjustments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09160" y="3364992"/>
            <a:ext cx="4114800" cy="1078992"/>
          </a:xfrm>
          <a:prstGeom prst="rect">
            <a:avLst/>
          </a:prstGeom>
          <a:solidFill>
            <a:srgbClr val="0A9396">
              <a:alpha val="12000"/>
            </a:srgbClr>
          </a:solidFill>
          <a:ln w="3810">
            <a:solidFill>
              <a:srgbClr val="0A939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3474720"/>
            <a:ext cx="45720" cy="457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65192" y="34198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Threads: remove formal language every time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46320" y="3794760"/>
            <a:ext cx="45720" cy="457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65192" y="37398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Twitter: AI hooks too gentle — user adds more punch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46320" y="4114800"/>
            <a:ext cx="45720" cy="457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65192" y="40599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Instagram: user always adds first-person 'I' statements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scores track how many times an observation has been confirmed. High-confidence learnings override default platform rules in every prompt.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USE CASES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Content-Led Businesses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Repurpose was designed for this use case first — then extended for every business that creates content at scale.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269748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26464"/>
            <a:ext cx="347472" cy="34747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26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SOLO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Brand / Creator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828800"/>
            <a:ext cx="269748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1938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9396"/>
                </a:solidFill>
              </a:rPr>
              <a:t>Who: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19385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2"/>
                </a:solidFill>
              </a:rPr>
              <a:t>Coaches, consultants, solopreneurs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304288"/>
            <a:ext cx="2423160" cy="18288"/>
          </a:xfrm>
          <a:prstGeom prst="rect">
            <a:avLst/>
          </a:prstGeom>
          <a:solidFill>
            <a:srgbClr val="F0EDE6"/>
          </a:solidFill>
          <a:ln w="12700">
            <a:solidFill>
              <a:srgbClr val="F0ED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231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E2012"/>
                </a:solidFill>
              </a:rPr>
              <a:t>Pain: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242316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2"/>
                </a:solidFill>
              </a:rPr>
              <a:t>Creating manually for 6 platforms takes all week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017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9E6B"/>
                </a:solidFill>
              </a:rPr>
              <a:t>Gain: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3017520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2"/>
                </a:solidFill>
              </a:rPr>
              <a:t>Post once on LinkedIn, wake up to 5 platform-ready variants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858768"/>
            <a:ext cx="2423160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5876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18hrs -&gt; 3hrs/week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27832" y="1371600"/>
            <a:ext cx="269748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64992" y="1426464"/>
            <a:ext cx="347472" cy="347472"/>
          </a:xfrm>
          <a:prstGeom prst="ellipse">
            <a:avLst/>
          </a:prstGeom>
          <a:solidFill>
            <a:srgbClr val="CA670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64992" y="1426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AGCY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22192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Agency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27832" y="1828800"/>
            <a:ext cx="269748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64992" y="1938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9396"/>
                </a:solidFill>
              </a:rPr>
              <a:t>Who: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22192" y="19385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2"/>
                </a:solidFill>
              </a:rPr>
              <a:t>Agencies managing 5-50 client brands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64992" y="2304288"/>
            <a:ext cx="2423160" cy="18288"/>
          </a:xfrm>
          <a:prstGeom prst="rect">
            <a:avLst/>
          </a:prstGeom>
          <a:solidFill>
            <a:srgbClr val="F0EDE6"/>
          </a:solidFill>
          <a:ln w="12700">
            <a:solidFill>
              <a:srgbClr val="F0ED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64992" y="24231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E2012"/>
                </a:solidFill>
              </a:rPr>
              <a:t>Pain: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22192" y="242316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2"/>
                </a:solidFill>
              </a:rPr>
              <a:t>Scaling content ops without scaling headcount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64992" y="3017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9E6B"/>
                </a:solidFill>
              </a:rPr>
              <a:t>Gain: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22192" y="3017520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2"/>
                </a:solidFill>
              </a:rPr>
              <a:t>One system per client — each with its own brand voice, learnings, and calendar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64992" y="3858768"/>
            <a:ext cx="2423160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4992" y="385876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client capacity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35624" y="1371600"/>
            <a:ext cx="269748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72784" y="1426464"/>
            <a:ext cx="347472" cy="34747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72784" y="1426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ECOM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729984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Brand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35624" y="1828800"/>
            <a:ext cx="269748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272784" y="1938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9396"/>
                </a:solidFill>
              </a:rPr>
              <a:t>Who: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729984" y="19385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2"/>
                </a:solidFill>
              </a:rPr>
              <a:t>DTC brands with active social presence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272784" y="2304288"/>
            <a:ext cx="2423160" cy="18288"/>
          </a:xfrm>
          <a:prstGeom prst="rect">
            <a:avLst/>
          </a:prstGeom>
          <a:solidFill>
            <a:srgbClr val="F0EDE6"/>
          </a:solidFill>
          <a:ln w="12700">
            <a:solidFill>
              <a:srgbClr val="F0ED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72784" y="24231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E2012"/>
                </a:solidFill>
              </a:rPr>
              <a:t>Pain: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729984" y="242316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2"/>
                </a:solidFill>
              </a:rPr>
              <a:t>Product launch content manually adapted per channel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72784" y="3017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9E6B"/>
                </a:solidFill>
              </a:rPr>
              <a:t>Gain: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729984" y="3017520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2"/>
                </a:solidFill>
              </a:rPr>
              <a:t>Launch post auto-adapted for stories, tweets, community, and ads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72784" y="3858768"/>
            <a:ext cx="2423160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72784" y="385876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to all channels in &lt;1hr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MORE USE CASES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Adaptable to Any Content-Driven Business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1965960" cy="38404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1069848"/>
            <a:ext cx="347472" cy="34747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069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EDU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6968" y="105156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Education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435608"/>
            <a:ext cx="19659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9768" y="1527048"/>
            <a:ext cx="17556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creators repurpose lesson highlights, student wins, and module previews. Each platform gets the right content density — Twitter for hooks, Skool for deep dives.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68880" y="1051560"/>
            <a:ext cx="19659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78608" y="1069848"/>
            <a:ext cx="347472" cy="34747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8608" y="1069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LAW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35808" y="105156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Consulting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1435608"/>
            <a:ext cx="19659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78608" y="1527048"/>
            <a:ext cx="17556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publish thought leadership on LinkedIn and auto-repurpose to bite-sized Twitter threads, Facebook community posts, and newsletter snippets without compliance risk.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17720" y="1051560"/>
            <a:ext cx="1965960" cy="384048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27448" y="1069848"/>
            <a:ext cx="347472" cy="347472"/>
          </a:xfrm>
          <a:prstGeom prst="ellipse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27448" y="1069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84648" y="105156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/ Wellness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1435608"/>
            <a:ext cx="19659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27448" y="1527048"/>
            <a:ext cx="17556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Clinics and wellness brands repurpose educational content with strict tone controls and avoid-lists to maintain professional, compliant language across all platforms.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766560" y="1051560"/>
            <a:ext cx="1965960" cy="384048"/>
          </a:xfrm>
          <a:prstGeom prst="rect">
            <a:avLst/>
          </a:prstGeom>
          <a:solidFill>
            <a:srgbClr val="CA670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76288" y="1069848"/>
            <a:ext cx="347472" cy="347472"/>
          </a:xfrm>
          <a:prstGeom prst="ellipse">
            <a:avLst/>
          </a:prstGeom>
          <a:solidFill>
            <a:srgbClr val="CA670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76288" y="1069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MUS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33488" y="105156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&amp; Entertainment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66560" y="1435608"/>
            <a:ext cx="19659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76288" y="1527048"/>
            <a:ext cx="17556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Artists and labels repurpose release announcements, tour dates, and behind-the-scenes content to fan communities, Twitter, and Instagram with platform-native formatting.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2926080"/>
            <a:ext cx="1965960" cy="384048"/>
          </a:xfrm>
          <a:prstGeom prst="rect">
            <a:avLst/>
          </a:prstGeom>
          <a:solidFill>
            <a:srgbClr val="05868E"/>
          </a:solidFill>
          <a:ln w="12700">
            <a:solidFill>
              <a:srgbClr val="05868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9768" y="2944368"/>
            <a:ext cx="347472" cy="347472"/>
          </a:xfrm>
          <a:prstGeom prst="ellipse">
            <a:avLst/>
          </a:prstGeom>
          <a:solidFill>
            <a:srgbClr val="05868E"/>
          </a:solidFill>
          <a:ln w="12700">
            <a:solidFill>
              <a:srgbClr val="05868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" y="2944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86968" y="292608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3310128"/>
            <a:ext cx="19659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29768" y="3401568"/>
            <a:ext cx="17556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repurpose property listings, market updates, and client stories. LinkedIn for professional network, Instagram for visual showcase, Facebook for community groups.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468880" y="2926080"/>
            <a:ext cx="1965960" cy="38404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78608" y="2944368"/>
            <a:ext cx="347472" cy="347472"/>
          </a:xfrm>
          <a:prstGeom prst="ellipse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78608" y="2944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035808" y="292608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&amp; Tech Startups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468880" y="3310128"/>
            <a:ext cx="19659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578608" y="3401568"/>
            <a:ext cx="17556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updates, feature launches, and customer stories auto-adapted per platform. Changelog becomes a Twitter thread. Case study becomes a LinkedIn post. Tutorial becomes a Skool lesson.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17720" y="2926080"/>
            <a:ext cx="19659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27448" y="2944368"/>
            <a:ext cx="347472" cy="34747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27448" y="2944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184648" y="292608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FinTech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17720" y="3310128"/>
            <a:ext cx="19659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727448" y="3401568"/>
            <a:ext cx="17556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firms and fintech brands repurpose market commentary, education content, and product news with compliance-aware tone controls built into brand voice profile.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766560" y="2926080"/>
            <a:ext cx="1965960" cy="384048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76288" y="2944368"/>
            <a:ext cx="347472" cy="347472"/>
          </a:xfrm>
          <a:prstGeom prst="ellipse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76288" y="2944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NGO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333488" y="292608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/ Non-Profit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766560" y="3310128"/>
            <a:ext cx="19659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876288" y="3401568"/>
            <a:ext cx="17556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stories and campaign content distributed across 6 platforms from a single post — maximising reach without additional staff time or budget.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Build for You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custom Pulse Repurpose implementation — designed for your brand, your platforms, and your workflow.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1993392" cy="38404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25880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490472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Setup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709928"/>
            <a:ext cx="1993392" cy="2606040"/>
          </a:xfrm>
          <a:prstGeom prst="rect">
            <a:avLst/>
          </a:prstGeom>
          <a:solidFill>
            <a:srgbClr val="0A9396">
              <a:alpha val="15000"/>
            </a:srgbClr>
          </a:solidFill>
          <a:ln w="3810">
            <a:solidFill>
              <a:srgbClr val="0A93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709928"/>
            <a:ext cx="1993392" cy="292608"/>
          </a:xfrm>
          <a:prstGeom prst="rect">
            <a:avLst/>
          </a:prstGeom>
          <a:solidFill>
            <a:srgbClr val="EE9B00">
              <a:alpha val="80000"/>
            </a:srgbClr>
          </a:solidFill>
          <a:ln w="12700">
            <a:solidFill>
              <a:srgbClr val="EE9B00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709928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" y="2103120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2066544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voice profiling session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4632" y="2487168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2450592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audit + prioritisation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" y="2871216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283464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setup + column mapping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" y="3255264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321868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instance configuration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" y="3639312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3602736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workflows deployed + tested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496312" y="1325880"/>
            <a:ext cx="1993392" cy="38404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96312" y="1325880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96312" y="1490472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Deployment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496312" y="1709928"/>
            <a:ext cx="1993392" cy="2606040"/>
          </a:xfrm>
          <a:prstGeom prst="rect">
            <a:avLst/>
          </a:prstGeom>
          <a:solidFill>
            <a:srgbClr val="0A9396">
              <a:alpha val="15000"/>
            </a:srgbClr>
          </a:solidFill>
          <a:ln w="3810">
            <a:solidFill>
              <a:srgbClr val="0A939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96312" y="1709928"/>
            <a:ext cx="1993392" cy="292608"/>
          </a:xfrm>
          <a:prstGeom prst="rect">
            <a:avLst/>
          </a:prstGeom>
          <a:solidFill>
            <a:srgbClr val="EE9B00">
              <a:alpha val="80000"/>
            </a:srgbClr>
          </a:solidFill>
          <a:ln w="12700">
            <a:solidFill>
              <a:srgbClr val="EE9B00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96312" y="1709928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2-3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660904" y="2103120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52344" y="2066544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app built from spec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660904" y="2487168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52344" y="2450592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platform skill files written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660904" y="2871216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52344" y="283464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 files (SOUL, Heartbeat, memory)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660904" y="3255264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52344" y="321868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store + git integration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660904" y="3639312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52344" y="3602736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setup for all platforms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72584" y="1325880"/>
            <a:ext cx="1993392" cy="38404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72584" y="1325880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672584" y="1490472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72584" y="1709928"/>
            <a:ext cx="1993392" cy="2606040"/>
          </a:xfrm>
          <a:prstGeom prst="rect">
            <a:avLst/>
          </a:prstGeom>
          <a:solidFill>
            <a:srgbClr val="0A9396">
              <a:alpha val="15000"/>
            </a:srgbClr>
          </a:solidFill>
          <a:ln w="3810">
            <a:solidFill>
              <a:srgbClr val="0A939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72584" y="1709928"/>
            <a:ext cx="1993392" cy="292608"/>
          </a:xfrm>
          <a:prstGeom prst="rect">
            <a:avLst/>
          </a:prstGeom>
          <a:solidFill>
            <a:srgbClr val="EE9B00">
              <a:alpha val="80000"/>
            </a:srgbClr>
          </a:solidFill>
          <a:ln w="12700">
            <a:solidFill>
              <a:srgbClr val="EE9B00">
                <a:alpha val="8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72584" y="1709928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37176" y="2103120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28616" y="2066544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-&gt; Apify scraper live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37176" y="2487168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28616" y="2450592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skill scheduled + tested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37176" y="2871216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28616" y="283464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+ gap detection active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37176" y="3255264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8616" y="321868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Auto-doc system live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37176" y="3639312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28616" y="3602736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end-to-end repurpose tested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848856" y="1325880"/>
            <a:ext cx="1993392" cy="38404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48856" y="1325880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848856" y="1490472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&amp; Scale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848856" y="1709928"/>
            <a:ext cx="1993392" cy="2606040"/>
          </a:xfrm>
          <a:prstGeom prst="rect">
            <a:avLst/>
          </a:prstGeom>
          <a:solidFill>
            <a:srgbClr val="0A9396">
              <a:alpha val="15000"/>
            </a:srgbClr>
          </a:solidFill>
          <a:ln w="3810">
            <a:solidFill>
              <a:srgbClr val="0A939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48856" y="1709928"/>
            <a:ext cx="1993392" cy="292608"/>
          </a:xfrm>
          <a:prstGeom prst="rect">
            <a:avLst/>
          </a:prstGeom>
          <a:solidFill>
            <a:srgbClr val="EE9B00">
              <a:alpha val="80000"/>
            </a:srgbClr>
          </a:solidFill>
          <a:ln w="12700">
            <a:solidFill>
              <a:srgbClr val="EE9B00">
                <a:alpha val="8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48856" y="1709928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013448" y="2103120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04888" y="2066544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walkthrough + training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013448" y="2487168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04888" y="2450592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voice fine-tuning session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013448" y="2871216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04888" y="283464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Learnings.md seeded with patterns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013448" y="3255264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104888" y="321868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+ error alert setup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013448" y="3639312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104888" y="3602736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post-launch support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20040" y="4480560"/>
            <a:ext cx="8503920" cy="502920"/>
          </a:xfrm>
          <a:prstGeom prst="rect">
            <a:avLst/>
          </a:prstGeom>
          <a:solidFill>
            <a:srgbClr val="EE9B00">
              <a:alpha val="90000"/>
            </a:srgbClr>
          </a:solidFill>
          <a:ln w="6350">
            <a:solidFill>
              <a:srgbClr val="EE9B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0040" y="44805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 Full source code  |  All n8n workflows  |  Complete documentation  |  AOS files  |  30-day support  |  Lifetime ownership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WHY US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Custom-Built Beats Off-the-Shelf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97280"/>
          <a:ext cx="8503920" cy="356616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3566160"/>
              </a:tblGrid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Generic SaaS tools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Pulse Repurpose (custom)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Your brand voice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E2012"/>
                          </a:solidFill>
                        </a:rPr>
                        <a:t>Generic AI output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868E"/>
                          </a:solidFill>
                        </a:rPr>
                        <a:t>Deeply personalised — your examples, tone, avoid list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Learning over time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E2012"/>
                          </a:solidFill>
                        </a:rPr>
                        <a:t>Resets every session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868E"/>
                          </a:solidFill>
                        </a:rPr>
                        <a:t>Accumulates learnings — gets smarter every week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0E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Platform skill control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E2012"/>
                          </a:solidFill>
                        </a:rPr>
                        <a:t>Black box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868E"/>
                          </a:solidFill>
                        </a:rPr>
                        <a:t>10 editable Markdown skill files — you control every prompt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Data ownership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E2012"/>
                          </a:solidFill>
                        </a:rPr>
                        <a:t>Lives on their servers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868E"/>
                          </a:solidFill>
                        </a:rPr>
                        <a:t>Your repo, your Sheet, your n8n — 100% yours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0E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Pricing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E2012"/>
                          </a:solidFill>
                        </a:rPr>
                        <a:t>$300-$1,200/month per seat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868E"/>
                          </a:solidFill>
                        </a:rPr>
                        <a:t>One-time build fee — no monthly cost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Customisation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E2012"/>
                          </a:solidFill>
                        </a:rPr>
                        <a:t>What they decide to build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868E"/>
                          </a:solidFill>
                        </a:rPr>
                        <a:t>Unlimited — it is your codebase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0E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n8n workflows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E2012"/>
                          </a:solidFill>
                        </a:rPr>
                        <a:t>Locked behind their API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868E"/>
                          </a:solidFill>
                        </a:rPr>
                        <a:t>4 custom workflows you own and can modify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AOS / memory system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E2012"/>
                          </a:solidFill>
                        </a:rPr>
                        <a:t>Not available anywhere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868E"/>
                          </a:solidFill>
                        </a:rPr>
                        <a:t>Unique — the system learns from your behaviour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0E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solidFill>
            <a:srgbClr val="0A9396">
              <a:alpha val="15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58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once. Owned forever. No dependency on a vendor's roadmap, pricing, or shutdown decision.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C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from Early Implementations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97480" cy="3291840"/>
          </a:xfrm>
          <a:prstGeom prst="rect">
            <a:avLst/>
          </a:prstGeom>
          <a:solidFill>
            <a:srgbClr val="0A9396">
              <a:alpha val="20000"/>
            </a:srgbClr>
          </a:solidFill>
          <a:ln w="6350">
            <a:solidFill>
              <a:srgbClr val="0A93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EE9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84632" y="1572768"/>
            <a:ext cx="237744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used to spend every Sunday adapting my LinkedIn posts. Now I approve five variants on Monday morning with my coffee. The voice is spot-on — even my audience noticed nothing changed.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4632" y="3218688"/>
            <a:ext cx="2377440" cy="1828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32918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Brand Consultant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4632" y="3593592"/>
            <a:ext cx="2377440" cy="47548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359359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15hrs/week reclaimed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697480" cy="3291840"/>
          </a:xfrm>
          <a:prstGeom prst="rect">
            <a:avLst/>
          </a:prstGeom>
          <a:solidFill>
            <a:srgbClr val="0A9396">
              <a:alpha val="20000"/>
            </a:srgbClr>
          </a:solidFill>
          <a:ln w="6350">
            <a:solidFill>
              <a:srgbClr val="0A93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9601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EE9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3364992" y="1572768"/>
            <a:ext cx="237744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onboarded three new clients without hiring. The brand voice system means each client's content sounds like them, not like AI. The learning system is the real differentiator.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64992" y="3218688"/>
            <a:ext cx="2377440" cy="1828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4992" y="32918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 Marketing Agency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64992" y="3593592"/>
            <a:ext cx="2377440" cy="47548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64992" y="359359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client capacity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80760" y="1005840"/>
            <a:ext cx="2697480" cy="3291840"/>
          </a:xfrm>
          <a:prstGeom prst="rect">
            <a:avLst/>
          </a:prstGeom>
          <a:solidFill>
            <a:srgbClr val="0A9396">
              <a:alpha val="20000"/>
            </a:srgbClr>
          </a:solidFill>
          <a:ln w="6350">
            <a:solidFill>
              <a:srgbClr val="0A93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17920" y="9601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EE9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6245352" y="1572768"/>
            <a:ext cx="237744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 launch went across LinkedIn, Twitter, Instagram, and Skool within two hours. Previously that was a two-day operation with three people.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45352" y="3218688"/>
            <a:ext cx="2377440" cy="1828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45352" y="32918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Startup Founder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45352" y="3593592"/>
            <a:ext cx="2377440" cy="47548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45352" y="359359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 -&gt; 2 hours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vary by implementation, content volume, and team adoption. Metrics above are representative of typical deployments.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ENGAGEMENT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Your Content OS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engagement options — from MVP to full enterprise deployment.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26974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71600"/>
            <a:ext cx="2697480" cy="5486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7160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" y="1700784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creator / small brand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2920" y="2029968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1984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brand voice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340864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22951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5-platform repurposing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2651760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n8n workflows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2962656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29169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calendar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3273552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" y="3227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sidebar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3584448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" y="3538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AOS (SOUL + Heartbeat)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3895344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" y="38496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support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4462272"/>
            <a:ext cx="2697480" cy="320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46227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getting started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08960" y="1325880"/>
            <a:ext cx="2880360" cy="3611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08960" y="1325880"/>
            <a:ext cx="2880360" cy="25603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8960" y="132588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108960" y="1572768"/>
            <a:ext cx="288036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0" y="1572768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108960" y="1901952"/>
            <a:ext cx="2880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/ growing brand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91840" y="2231136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01568" y="218541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Starter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1840" y="2542032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01568" y="249631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AOS (all memory files)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91840" y="2852928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01568" y="280720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system + cron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91840" y="3163824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01568" y="311810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skill customisation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91840" y="3474720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01568" y="342900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Auto-documentation system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91840" y="3785616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1568" y="373989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 bank + intelligence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91840" y="4096512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01568" y="405079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Multi-brand support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91840" y="4407408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01568" y="436168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support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108960" y="4663440"/>
            <a:ext cx="2880360" cy="32004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08960" y="46634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080760" y="1371600"/>
            <a:ext cx="26974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080760" y="1371600"/>
            <a:ext cx="2697480" cy="548640"/>
          </a:xfrm>
          <a:prstGeom prst="rect">
            <a:avLst/>
          </a:prstGeom>
          <a:solidFill>
            <a:srgbClr val="CA670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80760" y="137160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080760" y="1700784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Multi-client / large team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263640" y="2029968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73368" y="1984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Professional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263640" y="2340864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73368" y="22951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setup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263640" y="2651760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73368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platform integrations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263640" y="2962656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73368" y="29169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 dashboard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263640" y="3273552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73368" y="3227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approval workflows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263640" y="3584448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73368" y="3538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extensions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263640" y="3895344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73368" y="38496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 — 90 days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263640" y="4206240"/>
            <a:ext cx="457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373368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review sessions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080760" y="4462272"/>
            <a:ext cx="2697480" cy="320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080760" y="446227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custom build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FAQ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 Hear Most Often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64008" cy="10058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5214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Do I need to know how to code?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444752"/>
            <a:ext cx="3858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Once deployed, the app is a web interface. You approve content, manage your calendar, and configure your brand voice — all in a clean UI. No terminal, no code.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27448" y="1078992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27448" y="1078992"/>
            <a:ext cx="64008" cy="10058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15214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does it cost to run monthly?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10328" y="1444752"/>
            <a:ext cx="3858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Primarily your n8n hosting (~$20/month self-hosted) and AI API usage. Typical cost: Claude API ~$15-30/month, fal.ai ~$5-10/month. No SaaS subscription.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313432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13432"/>
            <a:ext cx="64008" cy="10058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38658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long does it take to build?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2679192"/>
            <a:ext cx="3858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weeks from kickoff to live system for the Professional tier. Starter can be deployed in 3 weeks. Enterprise timelines depend on custom integrations.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27448" y="2313432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27448" y="2313432"/>
            <a:ext cx="64008" cy="10058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238658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if the AI voice doesn't sound like me?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10328" y="2679192"/>
            <a:ext cx="3858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brand voice profile, example posts, and avoid list are tuned in a dedicated session. The learning system then refines further from your real approvals over time.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547872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547872"/>
            <a:ext cx="64008" cy="10058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62102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Can it handle multiple brands or clients?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3913632"/>
            <a:ext cx="3858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The Professional and Enterprise tiers support multi-brand setup — each brand has its own voice profile, skill files, hashtag bank, and content store.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27448" y="3547872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27448" y="3547872"/>
            <a:ext cx="64008" cy="10058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0328" y="362102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Is my content data secure?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10328" y="3913632"/>
            <a:ext cx="3858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stays on your infrastructure — your n8n instance, your Google Sheet, your repo. Nothing passes through our servers after delivery.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5868E"/>
          </a:solidFill>
          <a:ln w="12700">
            <a:solidFill>
              <a:srgbClr val="0586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80560"/>
            <a:ext cx="5943600" cy="54864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 your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OS?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start with a 30-minute discovery call. We'll map your current content workflow, identify the highest-leverage automations, and outline your custom build plan.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329184" cy="329184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803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8803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discovery call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55848"/>
            <a:ext cx="329184" cy="329184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3558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335584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your custom proposal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31336"/>
            <a:ext cx="329184" cy="329184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8313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83133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starts within one week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13716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REPURPOSE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49440" y="1920240"/>
            <a:ext cx="1645920" cy="36576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0848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One voice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24963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Six platforms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29077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Zero wasted hours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33192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Learns every day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Deven Goratela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91947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Operations &amp; AI Automation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 Repurpose — AI Content Operating System</dc:title>
  <dc:subject>PptxGenJS Presentation</dc:subject>
  <dc:creator>PptxGenJS</dc:creator>
  <cp:lastModifiedBy>PptxGenJS</cp:lastModifiedBy>
  <cp:revision>1</cp:revision>
  <dcterms:created xsi:type="dcterms:W3CDTF">2026-03-18T05:04:36Z</dcterms:created>
  <dcterms:modified xsi:type="dcterms:W3CDTF">2026-03-18T05:04:36Z</dcterms:modified>
</cp:coreProperties>
</file>